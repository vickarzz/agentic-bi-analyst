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4f96128-feb0-7148-328f-4717e7fa9e5c}">
          <p14:sldIdLst>
            <p14:sldId id="256"/>
            <p14:sldId id="257"/>
            <p14:sldId id="258"/>
            <p14:sldId id="259"/>
            <p14:sldId id="260"/>
          </p14:sldIdLst>
        </p14:section>
        <p14:section name="Installation" id="{5c244bd9-fddf-ae55-694a-73998b9549b8}">
          <p14:sldIdLst>
            <p14:sldId id="261"/>
            <p14:sldId id="262"/>
            <p14:sldId id="263"/>
            <p14:sldId id="264"/>
            <p14:sldId id="265"/>
          </p14:sldIdLst>
        </p14:section>
        <p14:section name="Results" id="{48724b08-34c2-641f-7b8f-5d47fb67193f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Build walkthrough" id="{a760d676-b054-2c10-c4fd-1c9c20752fa6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Multi-agent orchestration" id="{c87fe7ee-b3f5-b0c7-c284-a48ffbe8e74d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Deploy and train" id="{6e491872-2148-1c78-132a-6649c4409dc5}">
          <p14:sldIdLst>
            <p14:sldId id="296"/>
            <p14:sldId id="297"/>
            <p14:sldId id="298"/>
          </p14:sldIdLst>
        </p14:section>
        <p14:section name="Data Science Lab" id="{495D3893-E486-4B34-9DFA-8673DF74E6CA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Taking it further" id="{a1da3827-6967-42de-c551-cce473ca912e}">
          <p14:sldIdLst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adoption %</c:v>
                </c:pt>
              </c:strCache>
            </c:strRef>
          </c:tx>
          <c:spPr>
            <a:solidFill>
              <a:srgbClr val="0E6E69"/>
            </a:solidFill>
            <a:ln w="25400" cap="flat">
              <a:solidFill>
                <a:srgbClr val="0E6E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6E69"/>
              </a:solidFill>
              <a:ln w="9525" cap="flat">
                <a:solidFill>
                  <a:srgbClr val="0E6E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66.2</c:v>
                </c:pt>
                <c:pt idx="1">
                  <c:v>66.6</c:v>
                </c:pt>
                <c:pt idx="2">
                  <c:v>67.8</c:v>
                </c:pt>
                <c:pt idx="3">
                  <c:v>68.2</c:v>
                </c:pt>
                <c:pt idx="4">
                  <c:v>69.7</c:v>
                </c:pt>
                <c:pt idx="5">
                  <c:v>70.2</c:v>
                </c:pt>
                <c:pt idx="6">
                  <c:v>70.8</c:v>
                </c:pt>
                <c:pt idx="7">
                  <c:v>72.8</c:v>
                </c:pt>
                <c:pt idx="8">
                  <c:v>72.8</c:v>
                </c:pt>
                <c:pt idx="9">
                  <c:v>73.3</c:v>
                </c:pt>
                <c:pt idx="10">
                  <c:v>74.5</c:v>
                </c:pt>
                <c:pt idx="11">
                  <c:v>75.4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7"/>
          <c:min val="64"/>
        </c:scaling>
        <c:delete val="0"/>
        <c:axPos val="l"/>
        <c:majorGridlines>
          <c:spPr>
            <a:ln w="6350" cap="flat">
              <a:solidFill>
                <a:srgbClr val="E3E9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NPF ratio</c:v>
                </c:pt>
              </c:strCache>
            </c:strRef>
          </c:tx>
          <c:spPr>
            <a:solidFill>
              <a:srgbClr val="0E6E6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Northern</c:v>
                  </c:pt>
                  <c:pt idx="1">
                    <c:v>Western</c:v>
                  </c:pt>
                  <c:pt idx="2">
                    <c:v>Central</c:v>
                  </c:pt>
                  <c:pt idx="3">
                    <c:v>Eastern</c:v>
                  </c:pt>
                  <c:pt idx="4">
                    <c:v>Southern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4.4</c:v>
                </c:pt>
                <c:pt idx="2">
                  <c:v>4.3</c:v>
                </c:pt>
                <c:pt idx="3">
                  <c:v>4.1</c:v>
                </c:pt>
                <c:pt idx="4">
                  <c:v>2.7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E3E9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Remittance volume (SAR M)</c:v>
                </c:pt>
              </c:strCache>
            </c:strRef>
          </c:tx>
          <c:spPr>
            <a:solidFill>
              <a:srgbClr val="C8902E"/>
            </a:solidFill>
            <a:effectLst/>
          </c:spPr>
          <c:invertIfNegative val="0"/>
          <c:dLbls>
            <c:numFmt formatCode="&quot;SAR &quot;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India</c:v>
                  </c:pt>
                  <c:pt idx="1">
                    <c:v>Egypt</c:v>
                  </c:pt>
                  <c:pt idx="2">
                    <c:v>Pakistan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28.88</c:v>
                </c:pt>
                <c:pt idx="1">
                  <c:v>19.68</c:v>
                </c:pt>
                <c:pt idx="2">
                  <c:v>18.66</c:v>
                </c:pt>
              </c:numCache>
            </c:numRef>
          </c:val>
        </c:ser>
        <c:dLbls>
          <c:numFmt formatCode="&quot;SAR &quot;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262E"/>
                </a:solidFill>
                <a:latin typeface="+mn-lt"/>
              </a:rPr>
              <a:t>Planted story: digital adoption rises ~50% → ~75%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adoption</c:v>
                </c:pt>
              </c:strCache>
            </c:strRef>
          </c:tx>
          <c:spPr>
            <a:solidFill>
              <a:srgbClr val="0E6E69"/>
            </a:solidFill>
            <a:ln w="25400" cap="flat">
              <a:solidFill>
                <a:srgbClr val="0E6E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6E69"/>
              </a:solidFill>
              <a:ln w="9525" cap="flat">
                <a:solidFill>
                  <a:srgbClr val="0E6E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Q1 24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 25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 26</c:v>
                  </c:pt>
                  <c:pt idx="9">
                    <c:v>Q2</c:v>
                  </c:pt>
                  <c:pt idx="10">
                    <c:v>Q3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49.9</c:v>
                </c:pt>
                <c:pt idx="1">
                  <c:v>52.3</c:v>
                </c:pt>
                <c:pt idx="2">
                  <c:v>54.8</c:v>
                </c:pt>
                <c:pt idx="3">
                  <c:v>57.5</c:v>
                </c:pt>
                <c:pt idx="4">
                  <c:v>59.6</c:v>
                </c:pt>
                <c:pt idx="5">
                  <c:v>62.3</c:v>
                </c:pt>
                <c:pt idx="6">
                  <c:v>64.6</c:v>
                </c:pt>
                <c:pt idx="7">
                  <c:v>66.9</c:v>
                </c:pt>
                <c:pt idx="8">
                  <c:v>69.4</c:v>
                </c:pt>
                <c:pt idx="9">
                  <c:v>72.2</c:v>
                </c:pt>
                <c:pt idx="10">
                  <c:v>74.4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45"/>
        </c:scaling>
        <c:delete val="0"/>
        <c:axPos val="l"/>
        <c:majorGridlines>
          <c:spPr>
            <a:ln w="6350" cap="flat">
              <a:solidFill>
                <a:srgbClr val="E3E9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262E"/>
                </a:solidFill>
                <a:latin typeface="+mn-lt"/>
              </a:rPr>
              <a:t>NPF ratio by customer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NPF ratio</c:v>
                </c:pt>
              </c:strCache>
            </c:strRef>
          </c:tx>
          <c:spPr>
            <a:solidFill>
              <a:srgbClr val="B947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47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Churned</c:v>
                  </c:pt>
                  <c:pt idx="1">
                    <c:v>Active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12.1</c:v>
                </c:pt>
                <c:pt idx="1">
                  <c:v>3.6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262E"/>
                </a:solidFill>
                <a:latin typeface="+mn-lt"/>
              </a:rPr>
              <a:t>Fee income per remittance (SAR)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Fee per remittance</c:v>
                </c:pt>
              </c:strCache>
            </c:strRef>
          </c:tx>
          <c:spPr>
            <a:solidFill>
              <a:srgbClr val="6B7B80"/>
            </a:solidFill>
            <a:effectLst/>
          </c:spPr>
          <c:invertIfNegative val="0"/>
          <c:dLbls>
            <c:numFmt formatCode="&quot;SAR &quot;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B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90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 months before</c:v>
                  </c:pt>
                  <c:pt idx="1">
                    <c:v>6 months 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18.05</c:v>
                </c:pt>
                <c:pt idx="1">
                  <c:v>13.59</c:v>
                </c:pt>
              </c:numCache>
            </c:numRef>
          </c:val>
        </c:ser>
        <c:dLbls>
          <c:numFmt formatCode="&quot;SAR &quot;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262E"/>
                </a:solidFill>
                <a:latin typeface="+mn-lt"/>
              </a:rPr>
              <a:t>Remittances, year-over-year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</c:v>
                </c:pt>
              </c:strCache>
            </c:strRef>
          </c:tx>
          <c:spPr>
            <a:solidFill>
              <a:srgbClr val="6B7B8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B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90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 months before</c:v>
                  </c:pt>
                  <c:pt idx="1">
                    <c:v>6 months 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12.8</c:v>
                </c:pt>
                <c:pt idx="1">
                  <c:v>14.1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262E"/>
                </a:solidFill>
                <a:latin typeface="+mn-lt"/>
              </a:rPr>
              <a:t>Milliseconds per agent (teal = ran in parallel)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6B7B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B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6E6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data steward</c:v>
                  </c:pt>
                  <c:pt idx="1">
                    <c:v>retail</c:v>
                  </c:pt>
                  <c:pt idx="2">
                    <c:v>digital</c:v>
                  </c:pt>
                  <c:pt idx="3">
                    <c:v>credit</c:v>
                  </c:pt>
                  <c:pt idx="4">
                    <c:v>payments</c:v>
                  </c:pt>
                  <c:pt idx="5">
                    <c:v>customer</c:v>
                  </c:pt>
                  <c:pt idx="6">
                    <c:v>impact analyst</c:v>
                  </c:pt>
                  <c:pt idx="7">
                    <c:v>discovery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153</c:v>
                </c:pt>
                <c:pt idx="1">
                  <c:v>341</c:v>
                </c:pt>
                <c:pt idx="2">
                  <c:v>358</c:v>
                </c:pt>
                <c:pt idx="3">
                  <c:v>344</c:v>
                </c:pt>
                <c:pt idx="4">
                  <c:v>160</c:v>
                </c:pt>
                <c:pt idx="5">
                  <c:v>160</c:v>
                </c:pt>
                <c:pt idx="6">
                  <c:v>2142</c:v>
                </c:pt>
                <c:pt idx="7">
                  <c:v>842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project. Wadi Bank is fictional and all data is synthetic.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778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Agentic BI Analyst · build guide · all data synthetic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BI Analyst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Governed natural-language analytics and a multi-agent cross-business review for banking: a data science lab, installation, results and a full build walkthrough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Ahmad Zulfikar Rafsanjani  ·  github.com/vickarzz/agentic-bi-analyst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LangGraph · Claude · DuckDB · Streamlit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92640" y="2194560"/>
            <a:ext cx="1737360" cy="1737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859" y="257677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Why: SQL-writing chatbots aren't safe in a bank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6E7E3"/>
          </a:solidFill>
          <a:ln w="12700">
            <a:solidFill>
              <a:srgbClr val="F6E7E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035040" y="1371600"/>
            <a:ext cx="55778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444752"/>
            <a:ext cx="365760" cy="36576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267" y="1525219"/>
            <a:ext cx="204826" cy="20482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444752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667" y="1525219"/>
            <a:ext cx="204826" cy="20482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371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Typical text-to-SQL chatbot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67512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This project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2103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Same question, different numbers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23560" y="2423160"/>
            <a:ext cx="3657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6217920" y="21031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governed semantic layer: every metric defined once, with an owner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31520" y="2834640"/>
            <a:ext cx="1088136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73152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Hallucinated joins and double counting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623560" y="3227832"/>
            <a:ext cx="3657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6217920" y="290779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Deterministic compiler; multi-fact questions use CTEs (no fan-out)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731520" y="3639312"/>
            <a:ext cx="1088136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731520" y="371246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Personal data leaks (names, phones)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623560" y="4032504"/>
            <a:ext cx="3657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6217920" y="37124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 guardrail layers plus small-cell suppression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31520" y="4443984"/>
            <a:ext cx="1088136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31520" y="45171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way to prove answers are right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623560" y="4837176"/>
            <a:ext cx="3657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6217920" y="451713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Golden-question evals against independent SQL, run in CI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31520" y="5248656"/>
            <a:ext cx="1088136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731520" y="53218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Narratives invent figures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5623560" y="5641848"/>
            <a:ext cx="3657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6217920" y="53218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number in the summary is computed from the result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565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governed metrics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4173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611880" y="1645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175656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agents running in parallel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4173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175656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915400" y="141732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189720" y="1645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362" y="175656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89720" y="2286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3108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golden-question accuracy (28 cases)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0690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does: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manager types a question ("Which region has the highest NPF ratio?"). A LangGraph agent turns it into a structured plan that may only use governed metrics. A compiler writes safe SQL, DuckDB runs it, and the app shows the answer, a chart, the SQL, the plan and an audit trace. A second mode runs a team of agents that reviews the whole bank and tests how each business line affects the others.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"Wadi Bank", a fictional Saudi retail bank: 20,000 customers, ~560k transactions, ~5.4k Murabaha/Ijarah contracts, ~174k remittances. 100% synthetic.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AI decides what, governed code decides how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0126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922" y="1987174"/>
            <a:ext cx="286756" cy="2867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Question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993392" y="2377440"/>
            <a:ext cx="21945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224028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9290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562" y="1987174"/>
            <a:ext cx="286756" cy="2867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28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Input guard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85032" y="2377440"/>
            <a:ext cx="21945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93192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rgbClr val="FBF1DF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384548" y="1874520"/>
            <a:ext cx="512064" cy="51206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02" y="1987174"/>
            <a:ext cx="286756" cy="2867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3192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Planner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76672" y="2377440"/>
            <a:ext cx="21945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62356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07618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842" y="1987174"/>
            <a:ext cx="286756" cy="2867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068312" y="2377440"/>
            <a:ext cx="21945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731520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776782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482" y="1987174"/>
            <a:ext cx="286756" cy="2867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1520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Compile SQL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759952" y="2377440"/>
            <a:ext cx="21945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9006840" y="1737360"/>
            <a:ext cx="1417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945946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122" y="1987174"/>
            <a:ext cx="286756" cy="2867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06840" y="248716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SQL guard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10451592" y="2377440"/>
            <a:ext cx="3657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25"/>
          <p:cNvSpPr/>
          <p:nvPr/>
        </p:nvSpPr>
        <p:spPr>
          <a:xfrm>
            <a:off x="10515600" y="1737360"/>
            <a:ext cx="1097280" cy="128016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4" name="Shape 26"/>
          <p:cNvSpPr/>
          <p:nvPr/>
        </p:nvSpPr>
        <p:spPr>
          <a:xfrm>
            <a:off x="10808208" y="1874520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0862" y="1987174"/>
            <a:ext cx="286756" cy="2867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515600" y="248716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DuckDB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4636008" y="3063240"/>
            <a:ext cx="0" cy="411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38" name="Shape 29"/>
          <p:cNvSpPr/>
          <p:nvPr/>
        </p:nvSpPr>
        <p:spPr>
          <a:xfrm>
            <a:off x="4636008" y="3474720"/>
            <a:ext cx="169164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6327648" y="3063240"/>
            <a:ext cx="0" cy="4114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0" name="Text 31"/>
          <p:cNvSpPr txBox="1"/>
          <p:nvPr/>
        </p:nvSpPr>
        <p:spPr>
          <a:xfrm>
            <a:off x="4206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2"/>
                </a:solidFill>
              </a:rPr>
              <a:t>self-correction: errors fed back (max 3 tries)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11064240" y="3063240"/>
            <a:ext cx="914" cy="112471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8686800" y="4206240"/>
            <a:ext cx="2514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3" name="Text 34"/>
          <p:cNvSpPr txBox="1"/>
          <p:nvPr/>
        </p:nvSpPr>
        <p:spPr>
          <a:xfrm>
            <a:off x="886968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Small-cell suppression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886968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Groups under 10 customers masked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5852160" y="4206240"/>
            <a:ext cx="25146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6" name="Text 37"/>
          <p:cNvSpPr txBox="1"/>
          <p:nvPr/>
        </p:nvSpPr>
        <p:spPr>
          <a:xfrm>
            <a:off x="603504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 facts + chart</a:t>
            </a:r>
            <a:endParaRPr lang="en-US" sz="1400" dirty="0"/>
          </a:p>
        </p:txBody>
      </p:sp>
      <p:sp>
        <p:nvSpPr>
          <p:cNvPr id="47" name="Text 38"/>
          <p:cNvSpPr txBox="1"/>
          <p:nvPr/>
        </p:nvSpPr>
        <p:spPr>
          <a:xfrm>
            <a:off x="603504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Numbers computed from the result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3017520" y="4206240"/>
            <a:ext cx="25146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9" name="Text 40"/>
          <p:cNvSpPr txBox="1"/>
          <p:nvPr/>
        </p:nvSpPr>
        <p:spPr>
          <a:xfrm>
            <a:off x="320040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Answer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3200400" y="4709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Summary · chart · table · SQL · plan · trace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 flipH="1">
            <a:off x="8394192" y="4800600"/>
            <a:ext cx="26517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Shape 43"/>
          <p:cNvSpPr/>
          <p:nvPr/>
        </p:nvSpPr>
        <p:spPr>
          <a:xfrm flipH="1">
            <a:off x="5559552" y="4800600"/>
            <a:ext cx="26517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Text 4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Blocked, unclear or unsafe requests exit early with a refusal or a clarifying question.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and why each piece was chosen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76479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05610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18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Python 3.11+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One language for data generation, agent, UI and tests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46520" y="176479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905610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18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DuckDB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15200" y="2011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In-process analytical SQL; no server; patterns transfer to Snowflake, Oracle, Impala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22960" y="331927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460090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172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LangGraph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The agent as an explicit, testable state machine with bounded retries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172200" y="297180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6446520" y="331927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3460090"/>
            <a:ext cx="358445" cy="35844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3172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 (Anthropic SDK)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Forced tool use with an enum schema returns reliable structured plans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452628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822960" y="487375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5014570"/>
            <a:ext cx="358445" cy="35844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91640" y="4727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Streamlit + Plotly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69164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 usable chat UI in pure Python; free hosting on Streamlit Cloud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172200" y="452628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6446520" y="487375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338" y="5014570"/>
            <a:ext cx="358445" cy="35844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315200" y="4727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pytest + GitHub Actions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315200" y="5120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Tests and golden-question evals gate every push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· Installation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From the zip file to a running app in about five minutes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start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 3.11 or newer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python.org/downloads. On Windows, tick "Add python.exe to PATH" during setup.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python --version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17720" y="16916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4" y="18525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git-scm.com. Needed to push the project to GitHub.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Check: git --version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41732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66760" y="169164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1852574"/>
            <a:ext cx="409651" cy="4096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Anthropic API key (optional)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291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Only for the Claude planner. Without it the app runs fully offline.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console.anthropic.com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517550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43000" y="507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Time needed: ~5 minutes to install, ~5 seconds to generate data. Disk: ~150 MB including libraries.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14300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Tip: use VS Code with its built-in terminal (Terminal → New Terminal) so you can edit and run in one window.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in five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Unzip and open a terminal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Extract agentic-bi-analyst-v1.zip, then open a terminal inside the agentic-bi-analyst folder.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5669280" cy="804672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126480" y="150876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agentic-bi-analyst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Create a virtual environment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71576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Keeps the project's libraries separate from the rest of your machine.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2350008"/>
            <a:ext cx="5669280" cy="804672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126480" y="2487168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284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Activate 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6941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Your prompt will start with (.venv) when it worked.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3328416"/>
            <a:ext cx="5669280" cy="804672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126480" y="3465576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Windows:  .venv\Scripts\activate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Mac/Linux: source .venv/bin/activate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3708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4864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3068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Install libraries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46725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DuckDB, pandas, LangGraph, Anthropic SDK, Streamlit, Plotly, pytest.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943600" y="4306824"/>
            <a:ext cx="5669280" cy="804672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126480" y="4443984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2852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Generate the synthetic bank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6509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Builds data/wadi_bank.duckdb with ~900k rows in about 5 seconds.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0" y="5285232"/>
            <a:ext cx="5669280" cy="804672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126480" y="542239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scripts/generate_data.py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run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730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Chat app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77240" y="2423160"/>
            <a:ext cx="30632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0120" y="25603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app/streamlit_app.py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Opens http://localhost:8501. Click a sample question in the sidebar or type your own. Stop with Ctrl + C.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7309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Command line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526280" y="2423160"/>
            <a:ext cx="30632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709160" y="25603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bi_agent.cli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--show-sql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"NPF ratio by segment"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bi_agent.cli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question, or interactive mode with follow-ups ("now by region"). Add --trace to see each agent step.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17309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52560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Quality checks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8275320" y="2423160"/>
            <a:ext cx="306324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8458200" y="25603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-q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evals/run_evals.py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4069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94 tests should pass. The eval writes evals/report.md. make review runs the multi-agent business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Optional: switch the planner to Claude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(PowerShell)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$env:ANTHROPIC_API_KEY="sk-ant-..."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Mac / Linux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ANTHROPIC_API_KEY="sk-ant-..."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app/streamlit_app.py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evals/run_evals.py --planner llm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41732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on the Claude planner and summaries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BI_AGENT_PLANNER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(default) · llm ·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BI_AGENT_MODEL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model ID (default claude-sonnet-5-5)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BI_AGENT_DB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to the DuckDB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31520" y="4453128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4593946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429768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Claude fails (no network, wrong key, quota), the agent falls back to the offline planner automatically and notes it in the trace. Set a spending limit on any key used in a public demo.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How to confirm it worked: the header pill in the app changes from "Planner: offline rules" to "Planner: Claude (model name)", and the Trace tab shows "via llm".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· What the results look like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Mockups built from real output of the app (numbers are from the synthetic dataset)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a trend question answered with a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680960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1298448"/>
            <a:ext cx="764438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78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08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1645920"/>
            <a:ext cx="2011680" cy="4553712"/>
          </a:xfrm>
          <a:prstGeom prst="rect">
            <a:avLst/>
          </a:prstGeom>
          <a:solidFill>
            <a:srgbClr val="F4F7F7"/>
          </a:solidFill>
          <a:ln w="12700">
            <a:solidFill>
              <a:srgbClr val="F4F7F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Try a question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77240" y="214884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Monthly digital adoption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532888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77240" y="2532888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Highest NPF region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916936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2916936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Top 3 corridors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300984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3300984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Saudi vs expat volume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685032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77240" y="3685032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Murabaha by region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1691640" cy="301752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40690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Phone numbers (blocked)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Metric glossary  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Governance rules  ›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BI Analyst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88920" y="214884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27889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Planner: offline rules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0" y="2148840"/>
            <a:ext cx="160020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48056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Data as of 2026-09-30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2148840"/>
            <a:ext cx="1463040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17220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1"/>
                </a:solidFill>
              </a:rPr>
              <a:t>15 governed metrics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88920" y="2578608"/>
            <a:ext cx="256032" cy="256032"/>
          </a:xfrm>
          <a:prstGeom prst="ellipse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278892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U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3154680" y="25603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Monthly digital adoption rate over the last 12 months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88920" y="2944368"/>
            <a:ext cx="256032" cy="256032"/>
          </a:xfrm>
          <a:prstGeom prst="ellipse">
            <a:avLst/>
          </a:prstGeom>
          <a:solidFill>
            <a:srgbClr val="0E6E69"/>
          </a:solidFill>
          <a:ln w="127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278892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AI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2926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Latest month (Sep 2026): 75.4%. Change vs previous month: +0.9 pts. Change since Oct 2025: +9.2 pts.</a:t>
            </a:r>
            <a:endParaRPr lang="en-US" sz="1100" dirty="0"/>
          </a:p>
        </p:txBody>
      </p:sp>
      <p:graphicFrame>
        <p:nvGraphicFramePr>
          <p:cNvPr id="38" name="Digital adoption trend" descr=""/>
          <p:cNvGraphicFramePr/>
          <p:nvPr/>
        </p:nvGraphicFramePr>
        <p:xfrm>
          <a:off x="3108960" y="3429000"/>
          <a:ext cx="49377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Text 36"/>
          <p:cNvSpPr txBox="1"/>
          <p:nvPr/>
        </p:nvSpPr>
        <p:spPr>
          <a:xfrm>
            <a:off x="315468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Table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154680" y="601675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388620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SQL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461772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34924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Trace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854964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you see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8549640" y="1783080"/>
            <a:ext cx="3108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Header pills show the planner mode, data date and metric count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summary is built from computed facts; rates change in percentage points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Plotly line chart (interactive in the real app)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Tabs: Table, SQL, Plan and Trace for full auditability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The sidebar holds sample questions, the metric glossary and governance rules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rankings and breakdowns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1298448"/>
            <a:ext cx="544982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78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08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1801368"/>
            <a:ext cx="256032" cy="256032"/>
          </a:xfrm>
          <a:prstGeom prst="ellipse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U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783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region has the highest NPF ratio?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167128"/>
            <a:ext cx="256032" cy="256032"/>
          </a:xfrm>
          <a:prstGeom prst="ellipse">
            <a:avLst/>
          </a:prstGeom>
          <a:solidFill>
            <a:srgbClr val="0E6E69"/>
          </a:solidFill>
          <a:ln w="127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AI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Highest NPF ratio (90+ DPD): Northern at 5.0%. Lowest: Southern at 2.7%. Northern is 1.9x Southern.</a:t>
            </a:r>
            <a:endParaRPr lang="en-US" sz="1100" dirty="0"/>
          </a:p>
        </p:txBody>
      </p:sp>
      <p:graphicFrame>
        <p:nvGraphicFramePr>
          <p:cNvPr id="16" name="NPF by region" descr=""/>
          <p:cNvGraphicFramePr/>
          <p:nvPr/>
        </p:nvGraphicFramePr>
        <p:xfrm>
          <a:off x="914400" y="2697480"/>
          <a:ext cx="48463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96012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Table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60120" y="601675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69164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SQL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2316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15468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Trace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63640" y="1280160"/>
            <a:ext cx="5349240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281928" y="1298448"/>
            <a:ext cx="531266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28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611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793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713232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7223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92240" y="1801368"/>
            <a:ext cx="256032" cy="256032"/>
          </a:xfrm>
          <a:prstGeom prst="ellipse">
            <a:avLst/>
          </a:prstGeom>
          <a:solidFill>
            <a:srgbClr val="D9E2E1"/>
          </a:solidFill>
          <a:ln w="12700">
            <a:solidFill>
              <a:srgbClr val="D9E2E1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649224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U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1783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 3 corridors by remittance volume in 2026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92240" y="2167128"/>
            <a:ext cx="256032" cy="256032"/>
          </a:xfrm>
          <a:prstGeom prst="ellipse">
            <a:avLst/>
          </a:prstGeom>
          <a:solidFill>
            <a:srgbClr val="0E6E69"/>
          </a:solidFill>
          <a:ln w="127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6492240" y="2167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AI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Highest: India at SAR 28.88M. Lowest of the top 3: Pakistan at SAR 18.66M.</a:t>
            </a:r>
            <a:endParaRPr lang="en-US" sz="1100" dirty="0"/>
          </a:p>
        </p:txBody>
      </p:sp>
      <p:graphicFrame>
        <p:nvGraphicFramePr>
          <p:cNvPr id="35" name="Top corridors" descr=""/>
          <p:cNvGraphicFramePr/>
          <p:nvPr/>
        </p:nvGraphicFramePr>
        <p:xfrm>
          <a:off x="6583680" y="2697480"/>
          <a:ext cx="4800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 32"/>
          <p:cNvSpPr txBox="1"/>
          <p:nvPr/>
        </p:nvSpPr>
        <p:spPr>
          <a:xfrm>
            <a:off x="667512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Table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6675120" y="601675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 txBox="1"/>
          <p:nvPr/>
        </p:nvSpPr>
        <p:spPr>
          <a:xfrm>
            <a:off x="740664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SQL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813816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8869680" y="57607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Trace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SQL and Trace tabs make answers auditable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760720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1298448"/>
            <a:ext cx="572414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78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08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Table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SQL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08760" y="203911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24028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2194560"/>
            <a:ext cx="5303520" cy="3840480"/>
          </a:xfrm>
          <a:prstGeom prst="roundRect">
            <a:avLst>
              <a:gd name="adj" fmla="val 1905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6012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r.corridor AS corridor,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SUM(r.amount_sar) AS remittance_volume,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r.customer_id)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__n_remittances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fact_remittance 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CAST(r.remittance_date AS DATE)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&gt;= '2026-01-01'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CAST(r.remittance_date AS DATE)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&lt;= '2026-09-30'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ALL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remittance_volume DESC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1280160"/>
            <a:ext cx="5074920" cy="4937760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56248" y="1298448"/>
            <a:ext cx="503834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70255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8543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06831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0664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49808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Table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SQL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178308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Trace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1120" y="203911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194560"/>
          <a:ext cx="4617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48640"/>
                <a:gridCol w="28346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guard_input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 1 via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lines, 2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check_sql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read-only, allow-listed, no PII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rows; 0 suppressed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verified 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6766560" y="54406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The SQL is generated by the compiler; filter values are bound as parameters (shown inline for display). The __n column counts customers for small-cell suppression and is removed before display.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governance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37490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1298448"/>
            <a:ext cx="348386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78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353312"/>
            <a:ext cx="2423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08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You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Give me the phone numbers of affluent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3154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2834640"/>
            <a:ext cx="411480" cy="41148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06" y="2925166"/>
            <a:ext cx="230429" cy="230429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173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Agent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 only return governed, aggregated metrics, never personal data or record-level customer details.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212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Personal data request refused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Input guard: the database is never queried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297680" y="1280160"/>
            <a:ext cx="3520440" cy="37490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315968" y="1298448"/>
            <a:ext cx="348386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46227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64515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82803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5166360" y="1353312"/>
            <a:ext cx="2423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525780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52628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You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52628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Churned customers by segment this year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80560" y="2697480"/>
            <a:ext cx="3154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4617720" y="2834640"/>
            <a:ext cx="411480" cy="4114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46" y="2925166"/>
            <a:ext cx="230429" cy="230429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1663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Agent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461772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Mass 640 · Affluent 82 · Private n/a (suppressed). 1 value hidden because it describes fewer than 10 customers.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4297680" y="5212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Small group hidden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429768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Output guard: k-anonymity style rule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8046720" y="1280160"/>
            <a:ext cx="3520440" cy="3749040"/>
          </a:xfrm>
          <a:prstGeom prst="roundRect">
            <a:avLst>
              <a:gd name="adj" fmla="val 2597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8065008" y="1298448"/>
            <a:ext cx="348386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821131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39419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39" name="Shape 35"/>
          <p:cNvSpPr/>
          <p:nvPr/>
        </p:nvSpPr>
        <p:spPr>
          <a:xfrm>
            <a:off x="857707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40" name="Shape 36"/>
          <p:cNvSpPr/>
          <p:nvPr/>
        </p:nvSpPr>
        <p:spPr>
          <a:xfrm>
            <a:off x="8915400" y="1353312"/>
            <a:ext cx="24231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 txBox="1"/>
          <p:nvPr/>
        </p:nvSpPr>
        <p:spPr>
          <a:xfrm>
            <a:off x="900684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827532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You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275320" y="2011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NPF ratio by channel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229600" y="2697480"/>
            <a:ext cx="3154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8366760" y="28346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286" y="2925166"/>
            <a:ext cx="230429" cy="230429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89154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Agent</a:t>
            </a:r>
            <a:endParaRPr lang="en-US" sz="1000" dirty="0"/>
          </a:p>
        </p:txBody>
      </p:sp>
      <p:sp>
        <p:nvSpPr>
          <p:cNvPr id="48" name="Text 43"/>
          <p:cNvSpPr txBox="1"/>
          <p:nvPr/>
        </p:nvSpPr>
        <p:spPr>
          <a:xfrm>
            <a:off x="836676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Adjusted the question: 'channel' cannot be used with 'npf_ratio'. NPF ratio (90+ DPD): 4.2%.</a:t>
            </a:r>
            <a:endParaRPr lang="en-US" sz="1250" dirty="0"/>
          </a:p>
        </p:txBody>
      </p:sp>
      <p:sp>
        <p:nvSpPr>
          <p:cNvPr id="49" name="Text 44"/>
          <p:cNvSpPr txBox="1"/>
          <p:nvPr/>
        </p:nvSpPr>
        <p:spPr>
          <a:xfrm>
            <a:off x="8046720" y="5212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Impossible question repaired</a:t>
            </a:r>
            <a:endParaRPr lang="en-US" sz="1600" dirty="0"/>
          </a:p>
        </p:txBody>
      </p:sp>
      <p:sp>
        <p:nvSpPr>
          <p:cNvPr id="50" name="Text 45"/>
          <p:cNvSpPr txBox="1"/>
          <p:nvPr/>
        </p:nvSpPr>
        <p:spPr>
          <a:xfrm>
            <a:off x="8046720" y="55778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Validator feedback and a second planning attempt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command line with follow-up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498080" cy="4846320"/>
          </a:xfrm>
          <a:prstGeom prst="roundRect">
            <a:avLst>
              <a:gd name="adj" fmla="val 150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7132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bi_agent.cli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 BI Analyst — Wadi Bank (synthetic data).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transaction volume last year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 volume (SAR) (2025): SAR 349.80M.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now by region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Transaction volume (SAR) (2025): Central at SAR 132.76M.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Lowest: Northern at SAR 22.07M. Central accounts for 38.0% of the total.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what about the private segment?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Transaction volume (SAR) (2025): Central at SAR 30.37M.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Lowest: Northern at SAR 6.14M.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exit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follow-ups work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828800"/>
            <a:ext cx="3200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last successful plan is kept in memory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"now by region" has no metric, so the metric, dates and filters carry over and region becomes the breakdown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"the private segment" adds a filter on segment while keeping everything else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same memory powers the Streamlit chat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the evaluation report (evals/report.md)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plan accuracy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56616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answer accuracy vs reference SQL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5508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guardrail and clarify cases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14400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ms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median latency (offline)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914400"/>
                <a:gridCol w="173736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murabaha_region_q2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Murabaha disbursed by region in Q2 2026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multi_model_kpi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Transaction and remittance volume last year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churn_segment_ytd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Churned customers by segment this year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 (1 suppressed)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followup_filter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What about expats in the Western region?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self_correct_incompatible_dim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NPF ratio by channel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guard_pii_phone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Give me the phone numbers of affluent customers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PASS (blocked)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6 of 28 cases shown. Honest note: the golden set was written alongside the rule planner, so 100% means no regressions on known questions. New phrasings will score lower; run the same harness with --planner llm to compare.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 · How it was built, step by step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Twelve steps from an empty folder to a deployed, tested portfolio project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in twelve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scripts/generate_data.py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5204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Semantic layer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semantic/semantic_layer.yaml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QueryPlan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bi_agent/plan.py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09828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098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1572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 compiler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bi_agent/compiler.py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172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Guardrails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bi_agent/guardrails.py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971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52044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35204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3172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Planners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planner_rules.py · planner_llm.py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971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3172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LangGraph agent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bi_agent/graph.py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15400" y="29718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09828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9098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0" y="3172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Insights + charts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0982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bi_agent/insights.py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572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6E9E6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325880" y="4773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UI + CLI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73152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app/streamlit_app.py · cli.py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37560" y="4572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6E9E6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520440" y="4754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3520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4114800" y="4773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Tests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352044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(94 tests)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26480" y="4572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6E9E6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309360" y="4754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 txBox="1"/>
          <p:nvPr/>
        </p:nvSpPr>
        <p:spPr>
          <a:xfrm>
            <a:off x="63093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6903720" y="4773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Evals + CI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630936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evals/ · .github/workflows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15400" y="45720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6E9E6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9098280" y="4754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90982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9692640" y="47731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Publish + deploy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9098280" y="5349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· Streamlit Cloud · LinkedIn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Synthetic data with planted business stories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20,000 · segment, nationality, age, branch, PII (name, mobile, email)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fact_transaction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~560k · date, channel, type, amount, is_digital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fact_finance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~5.4k Murabaha / Ijarah · principal, profit rate, status, outstanding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E3EFED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fact_remittance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~174k · corridor, channel, amount, fee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120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3152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dim_branch · dim_product · dim_date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23 branches in 5 regions · 8 Islamic products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Vectorised NumPy (no row loops) · fixed seed for reproducibility · PII columns exist on purpose so the guardrails have something real to protect.</a:t>
            </a:r>
            <a:endParaRPr lang="en-US" sz="1250" dirty="0"/>
          </a:p>
        </p:txBody>
      </p:sp>
      <p:graphicFrame>
        <p:nvGraphicFramePr>
          <p:cNvPr id="19" name="Planted digital adoption" descr=""/>
          <p:cNvGraphicFramePr/>
          <p:nvPr/>
        </p:nvGraphicFramePr>
        <p:xfrm>
          <a:off x="6035040" y="1325880"/>
          <a:ext cx="55778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035040" y="411480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Other planted patterns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Ramadan and pre-Eid spending spikes; payday and weekend effects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Affluent and Private customers have 2.4x and 6x bigger tickets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NPF higher in Mass (5.7%) than Affluent (2.3%)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Expats remit to India, Pakistan, Indonesia, Egypt, Philippines, Bangladesh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~11% of Mass customers churn vs ~2% of Private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The semantic layer: one definition per metric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50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finance: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table: fact_finance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time_column: f.disbursement_date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customer_key: f.customer_id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c: LEFT JOIN dim_customer c ...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b: LEFT JOIN dim_branch b ...  (requires c)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region: {expr: b.region, requires: [c, b]}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npf_ratio: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 finance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additive: false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expr: SUM(90+ DPD outstanding)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SUM(open outstanding)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owner: Retail Credit Risk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synonyms: [npf, npl, default rate]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0" y="1325880"/>
            <a:ext cx="52120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583680" y="1399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Models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099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fact table plus the joins it is allowed to 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83680" y="2313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Dimensions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24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How metrics can be sliced; compatibility is computed from required joins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3154680"/>
            <a:ext cx="52120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83680" y="32278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Metrics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38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Governed SQL expressions with owner, description, format and synonyms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4069080"/>
            <a:ext cx="52120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583680" y="4142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Governance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531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PII column list, allow-listed tables, max rows, small-cell threshold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 a metric without touching Python: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a YAML block, add a golden question, run make evals. The same idea as dbt MetricFlow, Power BI measures or Denodo derived views.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3–4 · QueryPlan in, safe SQL out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QueryPlan: the planner's only output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937760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"metrics": ["remittance_volume"],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"dimensions": ["corridor"],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"start_date": "2026-01-01",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"end_date": "2026-09-30",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"filters": [{"dimension": "segment",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"values": ["Affluent"]}],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"order_by": "remittance_volume",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"limit": 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validate_plan() checks names, compatibility, dates and limits, and writes errors in plain English for the planner to read.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23560" y="3246120"/>
            <a:ext cx="548640" cy="914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Compiler algorithm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85623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0936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Group metrics by model (fact table)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3093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model: SELECT time bucket, dimensions, metric expressions and a customer count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172968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30936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09981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 only the joins needed, in dependency order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831336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30936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7581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Bind every filter value as a ? parameter (no injection)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48970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30936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441655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Several models → one CTE each, then FULL OUTER JOIN on shared dimensions (no fan-out)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514807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309360" y="5148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5074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ORDER BY, then LIMIT capped at max_rows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· Guardrails: three independent layers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8673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· Input guard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Before planning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Blocks names, phone, email, ID, IBAN, specific customer IDs, record exports and prompt injection ("ignore previous instructions", "drop table").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7867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SQL guard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 compiling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Single statement, SELECT/WITH only, no DDL/DML keywords, no PII columns, allow-listed tables only, must end with LIMIT.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78673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 · Output guard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909828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 executing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5146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Masks any value computed from fewer than 10 customers so aggregates can't re-identify anyone.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02E"/>
                </a:solidFill>
              </a:rPr>
              <a:t>Plus: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the DuckDB connection is read-only, and the semantic layer simply cannot express a PII column. Regex guards can be evaded, which is exactly why layers 2 and 3 do not trust layer 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· Two planners behind one interface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Offline rule planner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Longest-first synonym matching for metrics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Dates resolved against the as-of date: last N months, YTD, Q2 2026, since March 2025, 2024 vs 2025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Values from the database become filters (Riyadh, Affluent, Mobile App), plus aliases (murabaha, expats)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"by / per / vs / which" turn a word into a breakdown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Top-N, follow-ups, repair on feedback, clarification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chemeClr val="tx1"/>
                </a:solidFill>
              </a:rPr>
              <a:t>Free, deterministic, used in CI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217920" y="1325880"/>
            <a:ext cx="5394960" cy="4800600"/>
          </a:xfrm>
          <a:prstGeom prst="roundRect">
            <a:avLst>
              <a:gd name="adj" fmla="val 228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46520" y="15544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57276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Claude planner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286000"/>
            <a:ext cx="4983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System prompt holds the catalog and known values; no data rows are sent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Forced tool call submit_query_plan with enum fields, so it cannot invent names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Validator errors are appended on retry (self-correction)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Previous plan included for follow-ups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Optional summary may only rephrase verified facts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b="1" dirty="0">
                <a:solidFill>
                  <a:schemeClr val="tx1"/>
                </a:solidFill>
              </a:rPr>
              <a:t>Any failure falls back to the rule planner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 · LangGraph agent: every path visible and bounded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guard_input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73736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834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73736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120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406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0" y="173736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692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check_sql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92640" y="320040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69264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320040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40664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20640" y="3200400"/>
            <a:ext cx="192024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120640" y="3200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87168" y="210312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73168" y="210312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059168" y="210312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345168" y="210312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652760" y="2487168"/>
            <a:ext cx="914" cy="69494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9345168" y="356616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059168" y="3566160"/>
            <a:ext cx="32918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94760" y="1417320"/>
            <a:ext cx="228600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80760" y="1417320"/>
            <a:ext cx="0" cy="3017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794760" y="1417320"/>
            <a:ext cx="0" cy="301752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02336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retry with errors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508760" y="2487168"/>
            <a:ext cx="0" cy="1069848"/>
          </a:xfrm>
          <a:prstGeom prst="line">
            <a:avLst/>
          </a:prstGeom>
          <a:noFill/>
          <a:ln w="1524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581912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blocked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2487168"/>
            <a:ext cx="0" cy="1069848"/>
          </a:xfrm>
          <a:prstGeom prst="line">
            <a:avLst/>
          </a:prstGeom>
          <a:noFill/>
          <a:ln w="1524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153912" y="2606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clarify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508760" y="3557016"/>
            <a:ext cx="3593592" cy="0"/>
          </a:xfrm>
          <a:prstGeom prst="line">
            <a:avLst/>
          </a:prstGeom>
          <a:noFill/>
          <a:ln w="15240">
            <a:solidFill>
              <a:schemeClr val="accent5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80760" y="2487168"/>
            <a:ext cx="0" cy="694944"/>
          </a:xfrm>
          <a:prstGeom prst="line">
            <a:avLst/>
          </a:prstGeom>
          <a:noFill/>
          <a:ln w="15240">
            <a:solidFill>
              <a:schemeClr val="accent5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548640" y="4343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State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6542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TypedDict: question, plan, errors, attempts, SQL, result, facts, chart, status, message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172200" y="4343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Trace reducer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46542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Annotated[list, operator.add]: every node appends its step and timing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257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Conditional edges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5686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blocked → respond · errors → plan · clarify → respond · SQL violation → respond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172200" y="5257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a graph?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556869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Banks need predictable, testable paths. Tests assert the exact node sequence; retries are capped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8–9 · Verified insights, then the user interface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12801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Question shape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Facts computed with pandas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Chart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KPI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Value per metric, with the time label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Metric tiles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Trend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Latest, change vs previous period, change since start, peak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Line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Breakdown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Highest, lowest, share of total (additive) or N× ratio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Bar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Breakdown over time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Strongest and weakest change by group, largest latest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262E"/>
                          </a:solidFill>
                        </a:rPr>
                        <a:t>Line by colour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Rates are compared in percentage points (75% vs 70% is +5.0 pts, not +7.1%). Summaries never contain a number that was not computed from the result.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498080" y="1371600"/>
            <a:ext cx="4114800" cy="47091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726680" y="16002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7381" y="1720901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27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Streamlit app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26680" y="233172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Chat with conversation memory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Plotly chart chosen by the agent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Table · SQL · Plan · Trace tabs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Glossary with metric owners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 cached with st.cache_resource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Builds the database itself on first cloud start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50749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CLI: one-shot or interactive, --show-sql, --trace, --planner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10–11 · Tests, golden-question evals and CI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70 pytest tests (~11 s on a 3,000-customer test database)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test_compiler.py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783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parameters, join order, no fan-out, LIMIT cap, every metric runs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test_guardrails.py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313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blocked and allowed questions, SQL rejections, suppression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4378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test_planner.py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4378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11 date expressions, filters vs breakdowns, follow-ups, repair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741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test_graph.py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3741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node sequence, blocked path, self-correction, mocked Claude, fallback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044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904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headless Streamlit runs of both pages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434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test_orchestrator.py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434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fan-out, planted links, placebo, verifier, LLM rewrite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Golden-question eval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212080" cy="2103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583680" y="19202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murabaha_region_q2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question: Murabaha disbursed by region in Q2 2026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expect: {metrics: [finance_disbursed],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dimensions: [region], ...}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reference_sql: |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b.region, SUM(f.principal_sar) 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f.product_id = 'P06' ...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9776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Reference SQL is hand-written without the semantic layer, so a wrong metric definition is caught too.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486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Checkout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9385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1488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21488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Python 3.12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5387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490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37490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Install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1389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3492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53492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Generate data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7391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9494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9494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pytest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3393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5496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85496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Evals ≥ 90%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939528" y="5413248"/>
            <a:ext cx="19202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149840" y="5074920"/>
            <a:ext cx="13716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10149840" y="5074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Agent review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GitHub Actions on every push · no API key needed · the eval report is posted to the job summary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 · Publish, deploy and share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2763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68450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GitHub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Create public repo agentic-bi-analyst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git init · add · commit · push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Add description and topics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Check the Actions tab is green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Pin the repo on your profile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0" y="162763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818" y="1768450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4924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Streamlit Cloud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share.streamlit.io → Create app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Repo vickarzz/agentic-bi-analyst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Main file app/streamlit_app.py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Python 3.12 → Deploy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Optional: API key in Secrets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21040" y="1627632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858" y="1768450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645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LinkedIn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Projects: title, link, CV bullet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Featured: live demo link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Post with a 30-second demo video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Repo link in the first comment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chemeClr val="tx1"/>
                </a:solidFill>
              </a:rPr>
              <a:t>Post Tuesday to Thursday morning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Order matters: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 locally → push to GitHub → deploy → record a demo GIF → post. Everything works when recruiters click.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4 · Multi-agent orchestration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 team of agents reviews the whole bank and tests how each business line affects the others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question to the whole 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74101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Chat agent (Parts 1–3)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one question at a time: "NPF ratio by segment".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46520" y="160020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174101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276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Business review (Part 4)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377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Answers "How is the bank doing, and how does each line affect the others?" with a verified executive briefing.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86974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governance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Agents use governed metrics or approved SQL templates only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297680" y="3749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386974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02920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engine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02920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LangGraph, now with parallel fan-out (Send) and a join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046720" y="374904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421" y="386974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77824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New: a verifier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778240" y="41148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An agent that audits the writing before anyone sees it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executive summary, risk alerts, an impact map, tested links with evidence, recommended actions per business owner, domain scorecards and method caveats, as Markdown, JSON and an interactive page.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workflow: supervisor, parallel specialists, writer, auditor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315468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Request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584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"Review everything"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29968" y="3566160"/>
            <a:ext cx="28346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315468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331720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Supervisor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scope + dispatch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50208" y="3566160"/>
            <a:ext cx="23774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06240" y="3154680"/>
            <a:ext cx="16002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206240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Data steward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358444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governed KPI panel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24728" y="3566160"/>
            <a:ext cx="23774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377440" cy="4617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080760" y="1344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Run in parallel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217920" y="1691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Retail &amp; cards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267712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217920" y="22677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Digital banking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843784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217920" y="28437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Islamic finance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9856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217920" y="34198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Remittances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995928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217920" y="39959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Customer base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0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217920" y="45720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Impact analyst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5148072"/>
            <a:ext cx="210312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217920" y="51480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Discovery agent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76488" y="3566160"/>
            <a:ext cx="28346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778240" y="315468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778240" y="32644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Synthesizer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8823960" y="35844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writes briefing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22408" y="3566160"/>
            <a:ext cx="237744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378440" y="3154680"/>
            <a:ext cx="1280160" cy="822960"/>
          </a:xfrm>
          <a:prstGeom prst="roundRect">
            <a:avLst>
              <a:gd name="adj" fmla="val 13333"/>
            </a:avLst>
          </a:prstGeom>
          <a:solidFill>
            <a:srgbClr val="F6E7E3"/>
          </a:solidFill>
          <a:ln w="12700">
            <a:solidFill>
              <a:srgbClr val="F6E7E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378440" y="32644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Verifier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0424160" y="35844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checks numbers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1018520" y="3995928"/>
            <a:ext cx="0" cy="54864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436608" y="4544568"/>
            <a:ext cx="1581912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436608" y="4014216"/>
            <a:ext cx="0" cy="530352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946404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rewrite if issues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11018520" y="2212848"/>
            <a:ext cx="914" cy="92354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326880" y="1371600"/>
            <a:ext cx="23317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9326880" y="14813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Verified briefing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9372600" y="18013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summary · impact map · actions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3949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Domain agents (light) report KPIs, breakdowns, alerts and anomalies. The impact analyst and discovery agent (teal) work across business lines.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61940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27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Supervisor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Reads the request, picks domains in scope ("credit", "churn", or everything), dispatches the team.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 tools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82" y="161940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527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steward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48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Builds one governed monthly KPI panel: 12 metrics × 33 months, shared by all agents.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governed_query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002" y="161940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9440" y="1527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 domain agents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148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Quarter KPIs with QoQ and YoY, 12-month breakdowns, alert thresholds (NPF &gt; 5%), unusual months.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governed_query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915400" y="132588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9098280" y="15087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922" y="161940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738360" y="1527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Impact analyst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098280" y="2148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Tests 8 owner-written cross-business hypotheses; returns verdict, effect, p-value, action.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governed_query · approved_analysis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3749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" y="4042562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3950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Discovery agent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1520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Scans all 66 KPI pairs for co-movement nobody hypothesised; proposes candidates only.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73152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 only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3337560" y="3749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4" name="Shape 27"/>
          <p:cNvSpPr/>
          <p:nvPr/>
        </p:nvSpPr>
        <p:spPr>
          <a:xfrm>
            <a:off x="3520440" y="393192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1082" y="4042562"/>
            <a:ext cx="281635" cy="28163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160520" y="3950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Synthesizer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3520440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Writes the briefing from verified sentences; Claude may rewrite the summary.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352044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 tools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126480" y="3749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0" name="Shape 32"/>
          <p:cNvSpPr/>
          <p:nvPr/>
        </p:nvSpPr>
        <p:spPr>
          <a:xfrm>
            <a:off x="6309360" y="3931920"/>
            <a:ext cx="502920" cy="5029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p/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0002" y="4042562"/>
            <a:ext cx="281635" cy="28163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949440" y="3950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Verifier</a:t>
            </a:r>
            <a:endParaRPr lang="en-US" sz="1500" dirty="0"/>
          </a:p>
        </p:txBody>
      </p:sp>
      <p:sp>
        <p:nvSpPr>
          <p:cNvPr id="43" name="Text 34"/>
          <p:cNvSpPr txBox="1"/>
          <p:nvPr/>
        </p:nvSpPr>
        <p:spPr>
          <a:xfrm>
            <a:off x="6309360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Rejects ungrounded numbers, causal wording and weak "confirmed" claims.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30936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data tools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915400" y="374904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6" name="Shape 37"/>
          <p:cNvSpPr/>
          <p:nvPr/>
        </p:nvSpPr>
        <p:spPr>
          <a:xfrm>
            <a:off x="9098280" y="39319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8922" y="4042562"/>
            <a:ext cx="281635" cy="281635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738360" y="3950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Calendar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9098280" y="4572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Ramadan, Eid and the fee-cut date explain anomalies and anchor event tests.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9098280" y="5559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business_calendar.yaml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Cross-business hypotheses are owned, written down and tested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669280" cy="4846320"/>
          </a:xfrm>
          <a:prstGeom prst="roundRect">
            <a:avLst>
              <a:gd name="adj" fmla="val 150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churn_to_credit_risk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Churned customers and credit risk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from: {domain: customer, metric: churned_customers}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   {domain: credit,   metric: npf_ratio}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hypothesis: Contracts of customers who left the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 are more likely to be non-performing.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expected: positive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Retail Credit Risk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if_confirmed: Feed churn signals into early-warning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credit monitoring ...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cohort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sql: |   # approved, reviewed, no identifiers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 ... FROM fact_finance f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LEFT JOIN dim_customer c ... LIMIT 100000</a:t>
            </a: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1737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timeseries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Do two KPIs move together, maybe later?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Growth correlation, lags 0–2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cross_section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Where X is high, is Y high?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Correlation across groups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cohort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Is the outcome different for a group?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Permutation on cohort labels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event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Did a dated event change it?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2262E"/>
                          </a:solidFill>
                        </a:rPr>
                        <a:t>6 months before vs after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44348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6E69"/>
          </a:solidFill>
          <a:ln w="127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492240" y="4434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confirmed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4348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expected sign, p &lt; 0.05, meaningful effect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48646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6B7B80"/>
          </a:solidFill>
          <a:ln w="12700">
            <a:solidFill>
              <a:srgbClr val="6B7B8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492240" y="48646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not detected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8646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significant evidence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529437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9472F"/>
          </a:solidFill>
          <a:ln w="12700">
            <a:solidFill>
              <a:srgbClr val="B9472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92240" y="52943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contradicted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2943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significant, opposite sign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572414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8902E"/>
          </a:solidFill>
          <a:ln w="12700">
            <a:solidFill>
              <a:srgbClr val="C8902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492240" y="57241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control passed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5724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placebo shows no link, as it should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choices an executive can trust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154807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Growth, not levels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371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Most KPIs grew in 2024–2026, so raw levels correlate even when unrelated. Month-over-month growth removes the shared trend.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71600" y="2194560"/>
            <a:ext cx="1024128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25081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331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Permutation p-values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33172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"How often would shuffled months show a link this strong?" Easy to explain; no distribution assumptions.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371600" y="3154680"/>
            <a:ext cx="1024128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46831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Bonferroni adjustment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32918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Trying 3 lags or 66 pairs raises false alarms, so p-values are multiplied by the number of tries.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371600" y="4114800"/>
            <a:ext cx="1024128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42843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4251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 placebo control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4663440" y="42519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Gender has no planted effect on credit risk. If the method ever "confirms" it, the verifier fails the briefing.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371600" y="5074920"/>
            <a:ext cx="10241280" cy="0"/>
          </a:xfrm>
          <a:prstGeom prst="line">
            <a:avLst/>
          </a:prstGeom>
          <a:noFill/>
          <a:ln w="9525">
            <a:solidFill>
              <a:srgbClr val="E3E9E8"/>
            </a:solidFill>
            <a:prstDash val="solid"/>
          </a:ln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548640" y="52578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38855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5212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Association, not causation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4663440" y="5212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Briefings say "is associated with". Event and cohort designs are stronger evidence, but still not experiments.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agents found: 8 hypotheses tested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417320"/>
                <a:gridCol w="4526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From →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Spending and remittances move together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Retail → Payments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E69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Growth r = +0.98; 1% more spending ≈ +0.94% remittances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Churned customers and credit 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→ Credit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E69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NPF 12.1% churned vs 3.6% active (3.3x, p &lt; 0.001)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Churn rate and NPF by segment × region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→ Credit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E69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r = +0.74 across 10 groups (p = 0.009)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Fee cut and revenue per remittance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Payments → Payments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E69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SAR 18.05 → SAR 13.59 per transfer (-24.7%)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Fee cut and remittance 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Payments → Payments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B80"/>
                          </a:solidFill>
                        </a:rPr>
                        <a:t>not detected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YoY growth 12.8% → 14.1% (p = 0.82)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age and digital adoption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→ Digital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6E69"/>
                          </a:solidFill>
                        </a:rPr>
                        <a:t>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r = -0.99 across age bands (82.5% vs 52.2%)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New customers and next-month activity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→ Retail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B80"/>
                          </a:solidFill>
                        </a:rPr>
                        <a:t>not detected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r = +0.09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Control: gender vs credit 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Customer → Credit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902E"/>
                          </a:solidFill>
                        </a:rPr>
                        <a:t>control passed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</a:rPr>
                        <a:t>1.3x, p = 0.17: not significant, as expected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These match how the synthetic data was generated: the agents recovered every planted relationship and did not invent the absent 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behind the headline insights</a:t>
            </a:r>
            <a:endParaRPr lang="en-US" sz="2800" dirty="0"/>
          </a:p>
        </p:txBody>
      </p:sp>
      <p:graphicFrame>
        <p:nvGraphicFramePr>
          <p:cNvPr id="3" name="NPF by churn" descr=""/>
          <p:cNvGraphicFramePr/>
          <p:nvPr/>
        </p:nvGraphicFramePr>
        <p:xfrm>
          <a:off x="548640" y="13258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Fee per remittance" descr=""/>
          <p:cNvGraphicFramePr/>
          <p:nvPr/>
        </p:nvGraphicFramePr>
        <p:xfrm>
          <a:off x="4297680" y="13258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Remittance YoY" descr=""/>
          <p:cNvGraphicFramePr/>
          <p:nvPr/>
        </p:nvGraphicFramePr>
        <p:xfrm>
          <a:off x="8046720" y="1325880"/>
          <a:ext cx="35661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Churned: 3.3x the NPF ratio (p &lt; 0.001)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429768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Revenue per transfer -24.7% (p = 0.002)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8046720" y="4526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…activity growth unchanged (p = 0.82)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0" name="Text 5"/>
          <p:cNvSpPr txBox="1"/>
          <p:nvPr/>
        </p:nvSpPr>
        <p:spPr>
          <a:xfrm>
            <a:off x="822960" y="5303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02E"/>
                </a:solidFill>
              </a:rPr>
              <a:t>Executive insight: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the fee cut gave up about a quarter of revenue per transfer without a measurable lift in activity. Test targeted (corridor or segment) pricing instead of a blanket cut.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the Business Review page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4983480"/>
          </a:xfrm>
          <a:prstGeom prst="roundRect">
            <a:avLst>
              <a:gd name="adj" fmla="val 1835"/>
            </a:avLst>
          </a:prstGeom>
          <a:solidFill>
            <a:schemeClr val="bg1"/>
          </a:solidFill>
          <a:ln w="12700">
            <a:solidFill>
              <a:srgbClr val="D5DE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27664" cy="347472"/>
          </a:xfrm>
          <a:prstGeom prst="rect">
            <a:avLst/>
          </a:prstGeom>
          <a:solidFill>
            <a:srgbClr val="EEF1F1"/>
          </a:solidFill>
          <a:ln w="12700">
            <a:solidFill>
              <a:srgbClr val="EEF1F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408176"/>
            <a:ext cx="100584" cy="100584"/>
          </a:xfrm>
          <a:prstGeom prst="ellipse">
            <a:avLst/>
          </a:prstGeom>
          <a:solidFill>
            <a:srgbClr val="E0675A"/>
          </a:solidFill>
          <a:ln w="12700">
            <a:solidFill>
              <a:srgbClr val="E0675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408176"/>
            <a:ext cx="100584" cy="100584"/>
          </a:xfrm>
          <a:prstGeom prst="ellipse">
            <a:avLst/>
          </a:prstGeom>
          <a:solidFill>
            <a:srgbClr val="E4B04A"/>
          </a:solidFill>
          <a:ln w="12700">
            <a:solidFill>
              <a:srgbClr val="E4B04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78992" y="1408176"/>
            <a:ext cx="100584" cy="100584"/>
          </a:xfrm>
          <a:prstGeom prst="ellipse">
            <a:avLst/>
          </a:prstGeom>
          <a:solidFill>
            <a:srgbClr val="5DB36F"/>
          </a:solidFill>
          <a:ln w="12700">
            <a:solidFill>
              <a:srgbClr val="5DB36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417320" y="1353312"/>
            <a:ext cx="38404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5DED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508760" y="13533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agentic-bi-analyst.streamlit.app/Business_Review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Cross-business review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86968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Links confirmed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86968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5 / 8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2258568" y="2194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368296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Risk alerts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368296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2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739896" y="2194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849624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Watch items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849624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3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221224" y="2194560"/>
            <a:ext cx="1371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330952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Verifier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330952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Passed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246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Executive summary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5661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NPF ratio for the Mass segment is 5.7%, above the 5.0% alert level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Churned customers: NPF 12.1% vs 3.6% for active customers (3.3x)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Spending and remittances move together (growth r = +0.98)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Fee cut: revenue per transfer -24.7%, no detectable activity lift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Impact tests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5422392"/>
            <a:ext cx="411480" cy="274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150876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Actions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24028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Risks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97180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Scorecards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70332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Discovery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516636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Trace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5778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Each tab: evidence chart per link, owner actions, alerts, heatmap, agent timeline, downloads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Impact map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 flipH="1">
            <a:off x="8001000" y="2423160"/>
            <a:ext cx="1051560" cy="2651760"/>
          </a:xfrm>
          <a:prstGeom prst="line">
            <a:avLst/>
          </a:prstGeom>
          <a:noFill/>
          <a:ln w="381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360920" y="3429000"/>
            <a:ext cx="2743200" cy="1645920"/>
          </a:xfrm>
          <a:prstGeom prst="line">
            <a:avLst/>
          </a:prstGeom>
          <a:noFill/>
          <a:ln w="381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360920" y="3429000"/>
            <a:ext cx="3383280" cy="914"/>
          </a:xfrm>
          <a:prstGeom prst="line">
            <a:avLst/>
          </a:prstGeom>
          <a:noFill/>
          <a:ln w="381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 flipH="1">
            <a:off x="7360920" y="2423160"/>
            <a:ext cx="1691640" cy="1005840"/>
          </a:xfrm>
          <a:prstGeom prst="line">
            <a:avLst/>
          </a:prstGeom>
          <a:noFill/>
          <a:ln w="19050">
            <a:solidFill>
              <a:srgbClr val="AAB4B6"/>
            </a:solidFill>
            <a:prstDash val="dash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434072" y="5184648"/>
            <a:ext cx="237744" cy="23774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814816" y="218541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8412480" y="1892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Retail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506456" y="319125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01041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Digital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866376" y="483717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 txBox="1"/>
          <p:nvPr/>
        </p:nvSpPr>
        <p:spPr>
          <a:xfrm>
            <a:off x="946404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Credit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63256" y="483717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 txBox="1"/>
          <p:nvPr/>
        </p:nvSpPr>
        <p:spPr>
          <a:xfrm>
            <a:off x="736092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Payments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23176" y="3191256"/>
            <a:ext cx="475488" cy="47548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672084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Customer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5989320"/>
            <a:ext cx="365760" cy="0"/>
          </a:xfrm>
          <a:prstGeom prst="line">
            <a:avLst/>
          </a:prstGeom>
          <a:noFill/>
          <a:ln w="38100">
            <a:solidFill>
              <a:srgbClr val="0E6E69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 txBox="1"/>
          <p:nvPr/>
        </p:nvSpPr>
        <p:spPr>
          <a:xfrm>
            <a:off x="7498080" y="58795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confirmed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03920" y="5989320"/>
            <a:ext cx="365760" cy="0"/>
          </a:xfrm>
          <a:prstGeom prst="line">
            <a:avLst/>
          </a:prstGeom>
          <a:noFill/>
          <a:ln w="19050">
            <a:solidFill>
              <a:srgbClr val="AAB4B6"/>
            </a:solidFill>
            <a:prstDash val="dash"/>
          </a:ln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8961120" y="5879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not detected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058400" y="5879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 inside one 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Mockup: the agent trace shows the team working in parallel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035040" cy="4846320"/>
          </a:xfrm>
          <a:prstGeom prst="roundRect">
            <a:avLst>
              <a:gd name="adj" fmla="val 150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bi_agent.orchestrator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trace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supervisor          0.6 ms  scope = whole business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data_steward      153.1 ms  12 metrics x 33 months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domain:retail     341.1 ms  7 findings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domain:digital    358.4 ms  3 findings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domain:credit     344.1 ms  7 findings (2 alert)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domain:payments   159.9 ms  5 findings (1 watch)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domain:customer   160.1 ms  3 findings (2 watch)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impact_analyst   2141.6 ms  8 links: 5 confirmed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∥ discovery_agent   841.7 ms  66 pairs, 1 candidate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synthesizer         0.1 ms  6 summary points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verifier            1.0 ms  passed (64 numbers)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respond             0.1 ms  briefing ready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governed tool calls: 27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reports/business_review.md and .json</a:t>
            </a:r>
            <a:endParaRPr lang="en-US" sz="1100" dirty="0"/>
          </a:p>
        </p:txBody>
      </p:sp>
      <p:graphicFrame>
        <p:nvGraphicFramePr>
          <p:cNvPr id="5" name="Agent timings" descr=""/>
          <p:cNvGraphicFramePr/>
          <p:nvPr/>
        </p:nvGraphicFramePr>
        <p:xfrm>
          <a:off x="6858000" y="13258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0" y="5029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Because specialists run in one parallel super-step, the review takes about as long as the slowest agent (the impact analyst's permutation tests), around 3 seconds in total.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verifier: an agent that audits the writing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Grounding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number must appear in a fact an agent computed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Language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334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 "drives", "causes", "leads to", "due to", "proves"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5478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"Confirmed" requires p &lt; 0.05; a failed control blocks sign-off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Coverage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622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domain in scope has findings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 the Claude writer, rejected drafts go back with the issues (max 2 rewrites). If it still fails, the deterministic summary ships instead.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371600"/>
            <a:ext cx="5669280" cy="2148840"/>
          </a:xfrm>
          <a:prstGeom prst="roundRect">
            <a:avLst>
              <a:gd name="adj" fmla="val 5106"/>
            </a:avLst>
          </a:prstGeom>
          <a:solidFill>
            <a:srgbClr val="F6E7E3"/>
          </a:solidFill>
          <a:ln w="12700">
            <a:solidFill>
              <a:srgbClr val="F6E7E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p/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1673352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766560" y="15727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Draft 1: rejected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21488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"Churn causes a 99.9% jump in NPF."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2651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Ungrounded number '99.9%' · causal wording 'causes'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943600" y="3794760"/>
            <a:ext cx="56692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172200" y="3995928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4096512"/>
            <a:ext cx="256032" cy="25603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766560" y="39959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Draft 2: accepted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172200" y="45720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"Churned customers are associated with a higher NPF ratio than active customers."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6172200" y="53492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exact loop is a test: test_llm_writer_is_corrected_by_verifier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it, extend it, test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438912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whole business → reports/*.md + *.json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bi_agent.orchestrator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narrower scope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bi_agent.orchestrator \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"focus on credit risk and churn"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review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the app: sidebar →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Run the multi-agent business review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Add a hypothesis (no Python)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1737360"/>
            <a:ext cx="3566160" cy="4389120"/>
          </a:xfrm>
          <a:prstGeom prst="roundRect">
            <a:avLst>
              <a:gd name="adj" fmla="val 205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212080" y="187452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digital_to_fees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Digital vs fee income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domain: digital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metric: digital_adoption_rate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domain: payments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metric: remittance_fee_income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expected: negative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owner: Payments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if_confirmed: ...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if_not_detected: ...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timeseries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growth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max_lag: 2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Tested (10 tests)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1783080"/>
            <a:ext cx="2743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7 specialists run in parallel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tool call is governed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Planted links are confirmed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Absent links are not invented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Focused requests limit scope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Verifier catches invented numbers and causal claims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LLM rewrite loop converges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Business Review page renders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5 · Deploy and train the agents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Three commands to go live, and a 15-minute weekly loop to make the agents smarter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everything at once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730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 · Set up and check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7240" y="2423160"/>
            <a:ext cx="306324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960120" y="2560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scripts/setup_mac.sh --run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Creates .venv, installs libraries, builds data, runs 94 tests, evals and the agent review, then opens the app.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17309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 · Publish to GitHub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526280" y="2423160"/>
            <a:ext cx="306324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4709160" y="2560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scripts/publish_github.sh vickarzz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Commits and pushes (data, .venv and feedback logs are excluded). CI runs tests, evals and the review.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52044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173095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52560" y="1627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 · Go live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275320" y="2423160"/>
            <a:ext cx="306324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8458200" y="2560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share.streamlit.io → Create app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app/streamlit_app.py · Python 3.12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6118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Both pages (chat + Business Review) deploy together. Public link: agentic-bi-analyst.streamlit.app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Updates later: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edit, then run step 2 again. Streamlit redeploys automatically. Full guide in Indonesian: docs/PANDUAN_ID.md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agents: a governed feedback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0574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5361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+ rate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Every question and 👍/👎 is logged (text, status, plan; never results)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24328" y="2487168"/>
            <a:ext cx="17373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16352" y="1371600"/>
            <a:ext cx="20574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99232" y="15361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999232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1031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train_from_feedback.py lists unknown words, 👎 answers, golden candidates, blocked questions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2487168"/>
            <a:ext cx="17373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84064" y="137160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BF1DF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266944" y="1536192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266944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15584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Teach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1031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teach.py adds synonyms, aliases or golden questions; validates and rolls back bad edits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59752" y="2487168"/>
            <a:ext cx="17373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51776" y="1371600"/>
            <a:ext cx="20574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534656" y="15361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534656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83296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1031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make test + make evals must stay ≥ 90%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27464" y="2487168"/>
            <a:ext cx="173736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19488" y="1371600"/>
            <a:ext cx="20574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802368" y="1536192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802368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351008" y="1554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Publish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10312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Commit = audit trail of what the agents learned and who approved it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Worked example from the test run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6675120" cy="219456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31520" y="41148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bi_agent.cli "kredit macet per wilayah"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couldn't map that question to a governed metric.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scripts/teach.py synonym npf_ratio "kredit macet"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'kredit macet' as a synonym of npf_ratio.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scripts/teach.py synonym region "wilayah"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scripts/teach.py golden "kredit macet per wilayah"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bi_agent.cli "kredit macet per wilayah"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NPF ratio (90+ DPD): Northern at 5.0% ...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361188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weights are trained: behaviour changes only through reviewed YAML, so every answer stays explainable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Works in any language: Indonesian, Arabic or bank jargon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words flow into the Claude planner's catalog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Free cloud logs reset on restart, so run the loop on your laptop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portfolio to production on enterprise tools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1920240"/>
                <a:gridCol w="2286000"/>
                <a:gridCol w="2286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This repo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Power BI / Fabric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dbt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Denodo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Databricks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E6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6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semantic_layer.yaml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DAX measures in a semantic 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MetricFlow metrics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Derived / interface views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Unity Catalog metric views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6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compiler.py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DAX via XMLA / executeQueries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Semantic Layer API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VQL / REST data services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SQL on metric views / Genie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6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Guardrails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RLS / OLS, sensitivity labels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Warehouse grants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Role-based security, masking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Grants, column masks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46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Planner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Fabric data agent / Copilot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Any LLM + API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Any LLM + REST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262E"/>
                          </a:solidFill>
                        </a:rPr>
                        <a:t>Genie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Swapping DuckDB for Snowflake, Oracle or Cloudera Impala only changes bi_agent/db.py (plus small SQL dialect tweaks in the compiler).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32272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5212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Roadmap: MCP server so any assistant can query governed metrics · Arabic questions · metric lineage view · held-out eval 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Telling the story in an interview (STAR)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Situation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Business users wait days for analysts, and LLM chat tools give inconsistent, ungoverned numbers, which is unacceptable under banking regulation.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Task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26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Answer plain-English questions with the same numbers as official dashboards, without exposing personal data.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38130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14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Separated understanding from computation: a LangGraph agent plans within a governed semantic layer, a compiler writes parameterised SQL, three guardrail layers protect PII, and evals run in CI.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01768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48640" y="5001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37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303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 governed metrics, 100% plan and answer accuracy on 28 golden questions, every answer auditable, zero PII exposure by design. The agent team tests 8 cross-business links: it recovered all planted relationships, passed the placebo control, and showed that a fee cut lost 24.7% revenue per transfer without lifting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Run it locally today, publish this week, then compare the Claude planner against the offline one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9834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5413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bash scripts/setup_mac.sh --run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49834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70332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5413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bash scripts/publish_github.sh vickarzz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49834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9224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5413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Deploy on Streamlit Cloud, post on LinkedIn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498348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81160" y="5074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5413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15-minute weekly training loop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Part 6 · Data Science Lab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Five methods on the same governed data, each checked against the truth planted in 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Five business questions, five methods, one honesty test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38404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3017520"/>
                <a:gridCol w="356616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Business question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Result (planted truth)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>Causal inference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Did the Western cashback campaign work?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DiD, randomisation inference, event study, synthetic control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+17.0% (truth +18%)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Did the fee cut move customers to digital?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Interrupted time series, placebo dates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Naive +11.2% → +0.4 pts (truth 0)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>Churn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Who leaves in 90 days? Worth a call?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Out-of-time, calibrated, fairness audit, expected value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ROC-AUC 0.92; top 10% hold 73%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>Forecasting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Remittances next quarter?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Hijri-calendar regression, 20 rolling backtests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WAPE 3.0% vs 11.8%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>A/B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Ship the one-tap remittance flow?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SRM, CUPED, power, age effects, guardrail, A/A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+5.2% with CUPED, p = 0.027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E6E69"/>
                          </a:solidFill>
                        </a:rPr>
                        <a:t>Segmentation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What kinds of remitters?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K-means, silhouette, bootstrap stability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2E"/>
                          </a:solidFill>
                        </a:rPr>
                        <a:t>2 segments, ARI 0.95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8902E"/>
                </a:solidFill>
              </a:rPr>
              <a:t>Honesty test: </a:t>
            </a:r>
            <a:r>
              <a:rPr sz="1400" b="0" i="0">
                <a:solidFill>
                  <a:srgbClr val="FFFFFF"/>
                </a:solidFill>
              </a:rPr>
              <a:t>the data generator plants known effects; 17 checks compare every estimate with them, and CI fails if a method stops recovering the truth (python -m bi_agent.ds validate --strict).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Causal inference: the campaign worked, by +17%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528993"/>
            <a:ext cx="5541264" cy="16968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usa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6425"/>
            <a:ext cx="5486400" cy="16420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48820" y="1252728"/>
            <a:ext cx="5316038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usa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52" y="1280160"/>
            <a:ext cx="526117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703320"/>
            <a:ext cx="54864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6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Setup: </a:t>
            </a:r>
            <a:r>
              <a:rPr sz="1300" b="0" i="0">
                <a:solidFill>
                  <a:srgbClr val="12262E"/>
                </a:solidFill>
              </a:rPr>
              <a:t>4 Western cities treated, 13 control cities, monthly card transactions per customer, Jan 2024 to Sep 2026.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Naive before/after: </a:t>
            </a:r>
            <a:r>
              <a:rPr sz="1300" b="0" i="0">
                <a:solidFill>
                  <a:srgbClr val="12262E"/>
                </a:solidFill>
              </a:rPr>
              <a:t>+13.5%, biased by season and trend.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Difference-in-differences: </a:t>
            </a:r>
            <a:r>
              <a:rPr sz="1300" b="0" i="0">
                <a:solidFill>
                  <a:srgbClr val="12262E"/>
                </a:solidFill>
              </a:rPr>
              <a:t>+17.0% (95% CI +12.9% to +21.2%), city and month fixed effects.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Event study (right): </a:t>
            </a:r>
            <a:r>
              <a:rPr sz="1300" b="0" i="0">
                <a:solidFill>
                  <a:srgbClr val="12262E"/>
                </a:solidFill>
              </a:rPr>
              <a:t>flat before, a jump in the three campaign months, gone after.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300" b="1" i="0">
                <a:solidFill>
                  <a:srgbClr val="0E6E69"/>
                </a:solidFill>
              </a:rPr>
              <a:t>Planted truth: </a:t>
            </a:r>
            <a:r>
              <a:rPr sz="1300" b="0" i="0">
                <a:solidFill>
                  <a:srgbClr val="0E6E69"/>
                </a:solidFill>
              </a:rPr>
              <a:t>+18%. The CI covers it; the naive number does not come close.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Two more ways to be sure: synthetic control and randomisation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61964"/>
            <a:ext cx="5175503" cy="4059751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usa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9396"/>
            <a:ext cx="5120640" cy="40048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16168" y="1296826"/>
            <a:ext cx="5769864" cy="188690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usa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24258"/>
            <a:ext cx="5715000" cy="18320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3429000"/>
            <a:ext cx="57150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Synthetic control (left): </a:t>
            </a:r>
            <a:r>
              <a:rPr sz="1300" b="0" i="0">
                <a:solidFill>
                  <a:srgbClr val="12262E"/>
                </a:solidFill>
              </a:rPr>
              <a:t>Western rebuilt from a weighted mix of control cities fitted before the campaign; the gap during the campaign is +16.8%, rank 1 of 14 placebos.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Randomisation inference (top): </a:t>
            </a:r>
            <a:r>
              <a:rPr sz="1300" b="0" i="0">
                <a:solidFill>
                  <a:srgbClr val="12262E"/>
                </a:solidFill>
              </a:rPr>
              <a:t>the DiD re-run for all 2,380 ways to pick 4 of 17 cities; the real Western assignment is the most extreme (p &lt; 0.001). Exact, and no assumption about having enough clusters.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Robustness: </a:t>
            </a:r>
            <a:r>
              <a:rPr sz="1300" b="0" i="0">
                <a:solidFill>
                  <a:srgbClr val="12262E"/>
                </a:solidFill>
              </a:rPr>
              <a:t>a treated-group trend gives +18.3%.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fee cut: a +11% 'lift' that was only a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27112"/>
            <a:ext cx="7644384" cy="2649295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usa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4544"/>
            <a:ext cx="7589520" cy="25944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280160"/>
            <a:ext cx="3246120" cy="4846320"/>
          </a:xfrm>
          <a:prstGeom prst="roundRect">
            <a:avLst>
              <a:gd name="adj" fmla="val 8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463040"/>
            <a:ext cx="28346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8902E"/>
                </a:solidFill>
              </a:rPr>
              <a:t>Verdict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2262E"/>
                </a:solidFill>
              </a:rPr>
              <a:t>The digital share was already climbing </a:t>
            </a:r>
            <a:r>
              <a:rPr sz="1300" b="1" i="0">
                <a:solidFill>
                  <a:srgbClr val="12262E"/>
                </a:solidFill>
              </a:rPr>
              <a:t>+0.9 pts a month</a:t>
            </a:r>
            <a:r>
              <a:rPr sz="1300" b="0" i="0">
                <a:solidFill>
                  <a:srgbClr val="12262E"/>
                </a:solidFill>
              </a:rPr>
              <a:t> before the cut.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2262E"/>
                </a:solidFill>
              </a:rPr>
              <a:t>Interrupted time series (chosen by AIC): </a:t>
            </a:r>
            <a:r>
              <a:rPr sz="1300" b="1" i="0">
                <a:solidFill>
                  <a:srgbClr val="12262E"/>
                </a:solidFill>
              </a:rPr>
              <a:t>+0.4 pts</a:t>
            </a:r>
            <a:r>
              <a:rPr sz="1300" b="0" i="0">
                <a:solidFill>
                  <a:srgbClr val="12262E"/>
                </a:solidFill>
              </a:rPr>
              <a:t> (95% CI -0.2 to +0.9).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12262E"/>
                </a:solidFill>
              </a:rPr>
              <a:t>9 placebo dates give -0.3 to +0.8 pts: the real one looks like them.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12262E"/>
                </a:solidFill>
              </a:rPr>
              <a:t>Together with −24.7% revenue per transfer: the cut cost money and changed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75895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Naive: </a:t>
            </a:r>
            <a:r>
              <a:rPr sz="1300" b="0" i="0">
                <a:solidFill>
                  <a:srgbClr val="12262E"/>
                </a:solidFill>
              </a:rPr>
              <a:t>digital remittances +11.2% in the 6 months after vs before.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Lesson from building it: </a:t>
            </a:r>
            <a:r>
              <a:rPr sz="1300" b="0" i="0">
                <a:solidFill>
                  <a:srgbClr val="12262E"/>
                </a:solidFill>
              </a:rPr>
              <a:t>a first design (digital vs branch counts with group trends) failed its placebo test, so it was replaced. A method that can fail its own checks is worth trusting.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Churn model: out-of-time, calibrated, fair, and priced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6E69"/>
                </a:solidFill>
                <a:latin typeface="Cambria"/>
              </a:rPr>
              <a:t>0.92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B80"/>
                </a:solidFill>
              </a:rPr>
              <a:t>ROC-AUC on later quarters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80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6E69"/>
                </a:solidFill>
                <a:latin typeface="Cambria"/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7451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B80"/>
                </a:solidFill>
              </a:rPr>
              <a:t>of churners in the riskiest 10%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280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325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6E69"/>
                </a:solidFill>
                <a:latin typeface="Cambria"/>
              </a:rPr>
              <a:t>7.3x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87451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B80"/>
                </a:solidFill>
              </a:rPr>
              <a:t>top-decile lift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128016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79" y="1325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0E6E69"/>
                </a:solidFill>
                <a:latin typeface="Cambria"/>
              </a:rPr>
              <a:t>0.0119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79" y="187451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B7B80"/>
                </a:solidFill>
              </a:rPr>
              <a:t>Brier (base rate 0.0128)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2885651"/>
            <a:ext cx="3712463" cy="291549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ur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13083"/>
            <a:ext cx="3657600" cy="286063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07407" y="2885651"/>
            <a:ext cx="3712463" cy="2915497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ur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913083"/>
            <a:ext cx="3657600" cy="286063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2560320"/>
            <a:ext cx="32918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7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Point-in-time features: </a:t>
            </a:r>
            <a:r>
              <a:rPr sz="1250" b="0" i="0">
                <a:solidFill>
                  <a:srgbClr val="12262E"/>
                </a:solidFill>
              </a:rPr>
              <a:t>a test deletes all data after the cutoff and checks nothing changes.</a:t>
            </a:r>
          </a:p>
          <a:p>
            <a:pPr algn="l" marL="201168" indent="-164592">
              <a:spcAft>
                <a:spcPts val="7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Out-of-time split: </a:t>
            </a:r>
            <a:r>
              <a:rPr sz="1250" b="0" i="0">
                <a:solidFill>
                  <a:srgbClr val="12262E"/>
                </a:solidFill>
              </a:rPr>
              <a:t>train 2024–25, validate Dec 2025, test Mar and Jun 2026.</a:t>
            </a:r>
          </a:p>
          <a:p>
            <a:pPr algn="l" marL="201168" indent="-164592">
              <a:spcAft>
                <a:spcPts val="7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Model choice: </a:t>
            </a:r>
            <a:r>
              <a:rPr sz="1250" b="0" i="0">
                <a:solidFill>
                  <a:srgbClr val="12262E"/>
                </a:solidFill>
              </a:rPr>
              <a:t>logistic regression beat gradient boosting on validation PR-AUC.</a:t>
            </a:r>
          </a:p>
          <a:p>
            <a:pPr algn="l" marL="201168" indent="-164592">
              <a:spcAft>
                <a:spcPts val="7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Calibrated: </a:t>
            </a:r>
            <a:r>
              <a:rPr sz="1250" b="0" i="0">
                <a:solidFill>
                  <a:srgbClr val="12262E"/>
                </a:solidFill>
              </a:rPr>
              <a:t>isotonic, so a 5% risk means about 5 in 100.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From risk score to decision, with fairness and drift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460" y="1252728"/>
            <a:ext cx="6073399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ur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92" y="1280160"/>
            <a:ext cx="6018535" cy="2057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21207" y="3513756"/>
            <a:ext cx="3986783" cy="2619406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urn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1188"/>
            <a:ext cx="3931920" cy="256454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280160"/>
          <a:ext cx="480060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1143000"/>
                <a:gridCol w="11430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Observed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Predicted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 @ top 10%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6E69"/>
                          </a:solidFill>
                        </a:rPr>
                        <a:t>Female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1.31%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0.66%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6E69"/>
                          </a:solidFill>
                        </a:rPr>
                        <a:t>Male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1.29%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0.69%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80%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6E69"/>
                          </a:solidFill>
                        </a:rPr>
                        <a:t>Expat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1.27%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0.62%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74%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E6E69"/>
                          </a:solidFill>
                        </a:rPr>
                        <a:t>Saudi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1.32%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0.72%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2262E"/>
                          </a:solidFill>
                        </a:rPr>
                        <a:t>81%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09160" y="3520440"/>
            <a:ext cx="69494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6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Decision rule: </a:t>
            </a:r>
            <a:r>
              <a:rPr sz="1250" b="0" i="0">
                <a:solidFill>
                  <a:srgbClr val="12262E"/>
                </a:solidFill>
              </a:rPr>
              <a:t>call when risk × save rate × annual value &gt; call cost (assumptions in ds_config.yaml).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Next quarter: </a:t>
            </a:r>
            <a:r>
              <a:rPr sz="1250" b="0" i="0">
                <a:solidFill>
                  <a:srgbClr val="12262E"/>
                </a:solidFill>
              </a:rPr>
              <a:t>about 129 expected churners; 131 calls recommended at SAR 40 a call. Sliders in the app re-price the plan.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Fairness: </a:t>
            </a:r>
            <a:r>
              <a:rPr sz="1250" b="0" i="0">
                <a:solidFill>
                  <a:srgbClr val="12262E"/>
                </a:solidFill>
              </a:rPr>
              <a:t>gender and nationality are not inputs; calibration and recall are audited per group (table), no flags.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Drift: </a:t>
            </a:r>
            <a:r>
              <a:rPr sz="1250" b="0" i="0">
                <a:solidFill>
                  <a:srgbClr val="12262E"/>
                </a:solidFill>
              </a:rPr>
              <a:t>score PSI 0.009 between training and today (alert above 0.2).</a:t>
            </a:r>
          </a:p>
          <a:p>
            <a:pPr algn="l" marL="201168" indent="-164592">
              <a:spcAft>
                <a:spcPts val="600"/>
              </a:spcAft>
              <a:buChar char="•"/>
            </a:pPr>
            <a:r>
              <a:rPr sz="1250" b="1" i="0">
                <a:solidFill>
                  <a:srgbClr val="12262E"/>
                </a:solidFill>
              </a:rPr>
              <a:t>Model card: </a:t>
            </a:r>
            <a:r>
              <a:rPr sz="1250" b="0" i="0">
                <a:solidFill>
                  <a:srgbClr val="12262E"/>
                </a:solidFill>
              </a:rPr>
              <a:t>intended use, data, metrics, fairness, limitations, written on every run.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Forecasting with the Hijri calendar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64900"/>
            <a:ext cx="4992624" cy="39167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orecas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2332"/>
            <a:ext cx="4937760" cy="38618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39445" y="1252728"/>
            <a:ext cx="4614548" cy="362102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cas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877" y="1280160"/>
            <a:ext cx="4559684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4983480"/>
            <a:ext cx="5897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2262E"/>
                </a:solidFill>
              </a:rPr>
              <a:t>Ramadan moves 11 days a year, </a:t>
            </a:r>
            <a:r>
              <a:rPr sz="1250" b="0" i="0">
                <a:solidFill>
                  <a:srgbClr val="12262E"/>
                </a:solidFill>
              </a:rPr>
              <a:t>so 'same week last year' compares the wrong days. The calendar model learns a Ramadan week at +33% (planted +35%), pre-Eid +22% (planted +25%).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B7B80"/>
                </a:solidFill>
              </a:rPr>
              <a:t>Next 13 weeks: SAR 32.8M (80% interval SAR 32.1M to 33.0M), intervals from backtest errors by horizon.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A/B testing: CUPED turned 'maybe' into 'ship'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60445"/>
            <a:ext cx="7004303" cy="2874069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7877"/>
            <a:ext cx="6949440" cy="2819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25880"/>
            <a:ext cx="38862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Without CUPED: </a:t>
            </a:r>
            <a:r>
              <a:rPr sz="1300" b="0" i="0">
                <a:solidFill>
                  <a:srgbClr val="12262E"/>
                </a:solidFill>
              </a:rPr>
              <a:t>+3.7%, p = 0.20. Inconclusive.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With CUPED: </a:t>
            </a:r>
            <a:r>
              <a:rPr sz="1300" b="0" i="0">
                <a:solidFill>
                  <a:srgbClr val="12262E"/>
                </a:solidFill>
              </a:rPr>
              <a:t>+5.2% (95% CI +0.5% to +10.0%), p = 0.027.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12262E"/>
                </a:solidFill>
              </a:rPr>
              <a:t>Why: </a:t>
            </a:r>
            <a:r>
              <a:rPr sz="1300" b="0" i="0">
                <a:solidFill>
                  <a:srgbClr val="12262E"/>
                </a:solidFill>
              </a:rPr>
              <a:t>pre-period remittances explain 33% of the variance.</a:t>
            </a:r>
          </a:p>
          <a:p>
            <a:pPr algn="l" marL="201168" indent="-164592">
              <a:spcAft>
                <a:spcPts val="800"/>
              </a:spcAft>
              <a:buChar char="•"/>
            </a:pPr>
            <a:r>
              <a:rPr sz="1300" b="1" i="0">
                <a:solidFill>
                  <a:srgbClr val="0E6E69"/>
                </a:solidFill>
              </a:rPr>
              <a:t>Planted truth: </a:t>
            </a:r>
            <a:r>
              <a:rPr sz="1300" b="0" i="0">
                <a:solidFill>
                  <a:srgbClr val="0E6E69"/>
                </a:solidFill>
              </a:rPr>
              <a:t>about +5.8%, inside the CI.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3484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6E69"/>
                </a:solidFill>
              </a:rPr>
              <a:t>Sample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82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2262E"/>
                </a:solidFill>
              </a:rPr>
              <a:t>p = 0.18, no mismatch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443484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6E69"/>
                </a:solidFill>
              </a:rPr>
              <a:t>A/A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937760"/>
            <a:ext cx="182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2262E"/>
                </a:solidFill>
              </a:rPr>
              <a:t>4.8% false positives in 500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43484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6E69"/>
                </a:solidFill>
              </a:rPr>
              <a:t>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937760"/>
            <a:ext cx="182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2262E"/>
                </a:solidFill>
              </a:rPr>
              <a:t>failure rate 3.0% vs 3.0%, within 1 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443484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6E69"/>
                </a:solidFill>
              </a:rPr>
              <a:t>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937760"/>
            <a:ext cx="182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2262E"/>
                </a:solidFill>
              </a:rPr>
              <a:t>MDE 8.1% → 6.6% with CUPED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443484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45445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E6E69"/>
                </a:solidFill>
              </a:rPr>
              <a:t>Age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4937760"/>
            <a:ext cx="1828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2262E"/>
                </a:solidFill>
              </a:rPr>
              <a:t>lift falls with age; none significant alone after Bonferroni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Segmentation, and the validation table that gates CI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64157"/>
            <a:ext cx="3346704" cy="2638044"/>
          </a:xfrm>
          <a:prstGeom prst="rect">
            <a:avLst/>
          </a:prstGeom>
          <a:solidFill>
            <a:srgbClr val="FFFFFF"/>
          </a:solidFill>
          <a:ln w="9525">
            <a:solidFill>
              <a:srgbClr val="D5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1589"/>
            <a:ext cx="3291840" cy="2583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02336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2262E"/>
                </a:solidFill>
              </a:rPr>
              <a:t>2 segments: </a:t>
            </a:r>
            <a:r>
              <a:rPr sz="1200" b="0" i="0">
                <a:solidFill>
                  <a:srgbClr val="12262E"/>
                </a:solidFill>
              </a:rPr>
              <a:t>Frequent senders (61% of senders, 74% of volume); Occasional senders, lapsing (39% of senders, 26% of volume).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2262E"/>
                </a:solidFill>
              </a:rPr>
              <a:t>Stable </a:t>
            </a:r>
            <a:r>
              <a:rPr sz="1200" b="0" i="0">
                <a:solidFill>
                  <a:srgbClr val="12262E"/>
                </a:solidFill>
              </a:rPr>
              <a:t>(bootstrap ARI 0.95) but overlapping (silhouette 0.26): a targeting aid, not hard boxes.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0" y="1280160"/>
          <a:ext cx="7543800" cy="47731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68680"/>
                <a:gridCol w="3291840"/>
                <a:gridCol w="1234440"/>
                <a:gridCol w="1600200"/>
                <a:gridCol w="548640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Planted truth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Estimate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0E6E6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Causal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Campaign effect (DiD 95% CI covers truth)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+18.0%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+17.0% (+12.9% to +21.2%)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Causal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Campaign effect is significant (randomisation inference)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non-zero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 = 0.0004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Causal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Synthetic control close to truth (±6 pts)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+18.0%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+16.8%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Causal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Fee cut: interrupted time series CI covers zero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0 pts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+0.37 pts (-0.17 to +0.91)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Causal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Fee cut: naive before/after is biased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+11.2%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Churn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Out-of-time ROC-AUC ≥ 0.75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disengagement before churn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0.92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Churn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Top decile captures ≥ 40% of churners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73%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Churn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Calibration beats the base rate (Brier)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0.0119 vs 0.0128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Churn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 fairness flags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gender/nationality not 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Forecast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Ramadan effect recovered (±10 pts)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+35%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+32.8%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Forecast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Pre-Eid effect recovered (±10 pts)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+22.1%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Forecast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Beats 'same week last year' in backtests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WAPE 3.0% vs 11.8%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A/B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CUPED 95% CI covers the planted lift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+5.8%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+5.2% (+0.5% to +10.0%)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A/B test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A/A false-positive rate near 5%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4.8%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A/B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 sample ratio mismatch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50/50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 = 0.18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A/B test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Guardrail unchanged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 effect on failures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-0.03 pts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6F9F9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0E6E69"/>
                          </a:solidFill>
                        </a:rPr>
                        <a:t>Segments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Stable under bootstrap (ARI ≥ 0.8)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no planted segments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2262E"/>
                          </a:solidFill>
                        </a:rPr>
                        <a:t>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How the lab plugs into the agents, the app and 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69"/>
                </a:solidFill>
              </a:rPr>
              <a:t>The 8th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2262E"/>
                </a:solidFill>
              </a:rPr>
              <a:t>data_scientist runs in parallel with the other seven; its findings reach the executive briefing through the same verifier, with three new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258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69"/>
                </a:solidFill>
              </a:rPr>
              <a:t>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2262E"/>
                </a:solidFill>
              </a:rPr>
              <a:t>Data Science Lab page: one tab per module, interactive call-cost and power sliders, validation table, model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69"/>
                </a:solidFill>
              </a:rPr>
              <a:t>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2262E"/>
                </a:solidFill>
              </a:rPr>
              <a:t>python -m bi_agent.ds validate --strict after the evals; the validation table is posted to the job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260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6E69"/>
                </a:solidFill>
              </a:rPr>
              <a:t>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2262E"/>
                </a:solidFill>
              </a:rPr>
              <a:t>reviewed SQL templates through the SQL guard, no PII, protected attributes audit-only, aggregates in the UI.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1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06070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CC3BD"/>
                </a:solidFill>
                <a:latin typeface="Courier New"/>
              </a:rPr>
              <a:t>python -m bi_agent.ds                    # run all five modules → reports/ds/lab_report.md, churn_model_card.md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CC3BD"/>
                </a:solidFill>
                <a:latin typeface="Courier New"/>
              </a:rPr>
              <a:t>python -m bi_agent.ds validate --strict  # 17 checks against the planted truth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8CC3BD"/>
                </a:solidFill>
                <a:latin typeface="Courier New"/>
              </a:rPr>
              <a:t>make test                                # 94 tests, including leakage and recovery tests for the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di Analytics">
  <a:themeElements>
    <a:clrScheme name="Wadi Analytics">
      <a:dk1>
        <a:srgbClr val="12262E"/>
      </a:dk1>
      <a:lt1>
        <a:srgbClr val="FFFFFF"/>
      </a:lt1>
      <a:dk2>
        <a:srgbClr val="0E6E69"/>
      </a:dk2>
      <a:lt2>
        <a:srgbClr val="EEF5F4"/>
      </a:lt2>
      <a:accent1>
        <a:srgbClr val="0E6E69"/>
      </a:accent1>
      <a:accent2>
        <a:srgbClr val="C8902E"/>
      </a:accent2>
      <a:accent3>
        <a:srgbClr val="1F4652"/>
      </a:accent3>
      <a:accent4>
        <a:srgbClr val="8CC3BD"/>
      </a:accent4>
      <a:accent5>
        <a:srgbClr val="B9472F"/>
      </a:accent5>
      <a:accent6>
        <a:srgbClr val="6B7B80"/>
      </a:accent6>
      <a:hlink>
        <a:srgbClr val="0E6E69"/>
      </a:hlink>
      <a:folHlink>
        <a:srgbClr val="1F4652"/>
      </a:folHlink>
    </a:clrScheme>
    <a:fontScheme name="Wadi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BI Analyst — Build Guide</dc:title>
  <dc:subject>PptxGenJS Presentation</dc:subject>
  <dc:creator>Ahmad Zulfikar Rafsanjani</dc:creator>
  <cp:lastModifiedBy>Ahmad Zulfikar Rafsanjani</cp:lastModifiedBy>
  <cp:revision>1</cp:revision>
  <dcterms:created xsi:type="dcterms:W3CDTF">2026-10-18T11:00:43Z</dcterms:created>
  <dcterms:modified xsi:type="dcterms:W3CDTF">2026-10-18T11:00:43Z</dcterms:modified>
</cp:coreProperties>
</file>